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309" r:id="rId5"/>
    <p:sldId id="310" r:id="rId6"/>
    <p:sldId id="311" r:id="rId7"/>
    <p:sldId id="258" r:id="rId8"/>
    <p:sldId id="292" r:id="rId9"/>
    <p:sldId id="294" r:id="rId10"/>
    <p:sldId id="293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12" r:id="rId20"/>
    <p:sldId id="304" r:id="rId21"/>
    <p:sldId id="295" r:id="rId22"/>
    <p:sldId id="271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5235" y="1371600"/>
            <a:ext cx="4316730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网络爬虫系统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69753" y="2743200"/>
            <a:ext cx="31476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Web Crawler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6603" y="4572000"/>
            <a:ext cx="27539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95959"/>
                </a:solidFill>
              </a:defRPr>
            </a:pPr>
            <a:r>
              <a:rPr lang="zh-CN"/>
              <a:t>汇报人：计科</a:t>
            </a:r>
            <a:r>
              <a:rPr lang="en-US" altLang="zh-CN"/>
              <a:t>2305 </a:t>
            </a:r>
            <a:r>
              <a:rPr lang="zh-CN" altLang="en-US"/>
              <a:t>杨子衡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2607945" cy="1506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rPr lang="en-US"/>
              <a:t>1.</a:t>
            </a:r>
            <a:r>
              <a:t> </a:t>
            </a:r>
            <a:r>
              <a:rPr lang="zh-CN"/>
              <a:t>热度</a:t>
            </a:r>
            <a:r>
              <a:rPr lang="zh-CN"/>
              <a:t>优先级</a:t>
            </a:r>
            <a:endParaRPr lang="zh-CN"/>
          </a:p>
          <a:p>
            <a:pPr algn="l"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rPr lang="en-US">
                <a:sym typeface="+mn-ea"/>
              </a:rPr>
              <a:t>2</a:t>
            </a:r>
            <a:r>
              <a:rPr>
                <a:sym typeface="+mn-ea"/>
              </a:rPr>
              <a:t>. </a:t>
            </a:r>
            <a:r>
              <a:rPr lang="en-US">
                <a:sym typeface="+mn-ea"/>
              </a:rPr>
              <a:t>DFS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BFS</a:t>
            </a:r>
            <a:r>
              <a:rPr lang="zh-CN" altLang="en-US">
                <a:sym typeface="+mn-ea"/>
              </a:rPr>
              <a:t>的比较</a:t>
            </a:r>
            <a:endParaRPr lang="zh-CN" altLang="en-US">
              <a:sym typeface="+mn-ea"/>
            </a:endParaRP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3129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1</a:t>
            </a:r>
            <a:r>
              <a:t>. </a:t>
            </a:r>
            <a:r>
              <a:rPr lang="zh-CN"/>
              <a:t>基于热度的</a:t>
            </a:r>
            <a:r>
              <a:rPr lang="zh-CN"/>
              <a:t>优先级</a:t>
            </a:r>
            <a:endParaRPr lang="zh-CN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" y="1229360"/>
            <a:ext cx="5903595" cy="16827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7210" y="3130550"/>
            <a:ext cx="10180320" cy="1577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  <a:defRPr sz="3600" b="1">
                <a:solidFill>
                  <a:srgbClr val="003366"/>
                </a:solidFill>
              </a:defRPr>
            </a:pPr>
            <a:r>
              <a:rPr lang="zh-CN"/>
              <a:t>例如点赞数，不同</a:t>
            </a:r>
            <a:r>
              <a:rPr lang="zh-CN"/>
              <a:t>网站有不同的变量名来标识点赞数</a:t>
            </a:r>
            <a:endParaRPr lang="zh-CN"/>
          </a:p>
          <a:p>
            <a:pPr algn="l">
              <a:buClrTx/>
              <a:buSzTx/>
              <a:buFontTx/>
              <a:defRPr sz="3600" b="1">
                <a:solidFill>
                  <a:srgbClr val="003366"/>
                </a:solidFill>
              </a:defRPr>
            </a:pPr>
            <a:endParaRPr lang="zh-CN"/>
          </a:p>
          <a:p>
            <a:pPr algn="l">
              <a:buClrTx/>
              <a:buSzTx/>
              <a:buFontTx/>
              <a:defRPr sz="3600" b="1">
                <a:solidFill>
                  <a:srgbClr val="003366"/>
                </a:solidFill>
              </a:defRPr>
            </a:pPr>
            <a:r>
              <a:rPr lang="zh-CN"/>
              <a:t>爬取特定的</a:t>
            </a:r>
            <a:r>
              <a:rPr lang="zh-CN"/>
              <a:t>网站的</a:t>
            </a:r>
            <a:r>
              <a:rPr lang="zh-CN" sz="3600" b="1">
                <a:solidFill>
                  <a:srgbClr val="003366"/>
                </a:solidFill>
              </a:rPr>
              <a:t>热度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3129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1</a:t>
            </a:r>
            <a:r>
              <a:t>. </a:t>
            </a:r>
            <a:r>
              <a:rPr lang="zh-CN"/>
              <a:t>基于热度的</a:t>
            </a:r>
            <a:r>
              <a:rPr lang="zh-CN"/>
              <a:t>优先级</a:t>
            </a:r>
            <a:endParaRPr lang="zh-CN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本框 4"/>
          <p:cNvSpPr txBox="1"/>
          <p:nvPr/>
        </p:nvSpPr>
        <p:spPr>
          <a:xfrm>
            <a:off x="626110" y="1360805"/>
            <a:ext cx="104273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可以用于爬取</a:t>
            </a:r>
            <a:r>
              <a:rPr lang="en-US" altLang="zh-CN" sz="4000">
                <a:sym typeface="+mn-ea"/>
              </a:rPr>
              <a:t>bilibili</a:t>
            </a:r>
            <a:r>
              <a:rPr lang="zh-CN" altLang="en-US" sz="4000">
                <a:sym typeface="+mn-ea"/>
              </a:rPr>
              <a:t>的热度</a:t>
            </a:r>
            <a:endParaRPr lang="zh-CN" altLang="en-US" sz="4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2196465"/>
            <a:ext cx="6532880" cy="4161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3129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1</a:t>
            </a:r>
            <a:r>
              <a:t>. </a:t>
            </a:r>
            <a:r>
              <a:rPr lang="zh-CN"/>
              <a:t>基于热度的</a:t>
            </a:r>
            <a:r>
              <a:rPr lang="zh-CN"/>
              <a:t>优先级</a:t>
            </a:r>
            <a:endParaRPr lang="zh-CN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本框 4"/>
          <p:cNvSpPr txBox="1"/>
          <p:nvPr/>
        </p:nvSpPr>
        <p:spPr>
          <a:xfrm>
            <a:off x="626110" y="1360805"/>
            <a:ext cx="104273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热度</a:t>
            </a:r>
            <a:r>
              <a:rPr lang="zh-CN" altLang="en-US" sz="4000">
                <a:sym typeface="+mn-ea"/>
              </a:rPr>
              <a:t>排名</a:t>
            </a:r>
            <a:endParaRPr lang="zh-CN" altLang="en-US" sz="4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2196465"/>
            <a:ext cx="6532880" cy="416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5" y="2196465"/>
            <a:ext cx="10584180" cy="4087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0085" y="1645920"/>
            <a:ext cx="10515600" cy="357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sz="4000"/>
              <a:t>先说结论：</a:t>
            </a:r>
            <a:endParaRPr lang="zh-CN" sz="4000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sz="4000"/>
              <a:t>当深度</a:t>
            </a:r>
            <a:r>
              <a:rPr lang="en-US" altLang="zh-CN" sz="4000"/>
              <a:t>≤2</a:t>
            </a:r>
            <a:r>
              <a:rPr lang="zh-CN" altLang="en-US" sz="4000"/>
              <a:t>时</a:t>
            </a:r>
            <a:endParaRPr lang="zh-CN" altLang="en-US" sz="4000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/>
              <a:t>BFS</a:t>
            </a:r>
            <a:r>
              <a:rPr lang="zh-CN" altLang="en-US" sz="4000"/>
              <a:t>获取的</a:t>
            </a:r>
            <a:r>
              <a:rPr lang="en-US" altLang="zh-CN" sz="4000"/>
              <a:t>URL</a:t>
            </a:r>
            <a:r>
              <a:rPr lang="zh-CN" altLang="en-US" sz="4000"/>
              <a:t>数量</a:t>
            </a:r>
            <a:r>
              <a:rPr lang="en-US" altLang="zh-CN" sz="4000"/>
              <a:t>=</a:t>
            </a:r>
            <a:r>
              <a:rPr lang="zh-CN" altLang="en-US" sz="4000"/>
              <a:t>其他优先级</a:t>
            </a:r>
            <a:endParaRPr lang="zh-CN" sz="4000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sz="4000"/>
              <a:t>当深度</a:t>
            </a:r>
            <a:r>
              <a:rPr lang="en-US" altLang="zh-CN" sz="4000"/>
              <a:t>&gt;2</a:t>
            </a:r>
            <a:r>
              <a:rPr lang="zh-CN" altLang="en-US" sz="4000"/>
              <a:t>时</a:t>
            </a:r>
            <a:endParaRPr lang="zh-CN" sz="4000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/>
              <a:t>BFS</a:t>
            </a:r>
            <a:r>
              <a:rPr lang="zh-CN" altLang="en-US" sz="4000"/>
              <a:t>获取的</a:t>
            </a:r>
            <a:r>
              <a:rPr lang="en-US" altLang="zh-CN" sz="4000"/>
              <a:t>URL</a:t>
            </a:r>
            <a:r>
              <a:rPr lang="zh-CN" altLang="en-US" sz="4000"/>
              <a:t>数量</a:t>
            </a:r>
            <a:r>
              <a:rPr lang="en-US" altLang="zh-CN" sz="4000"/>
              <a:t>≥</a:t>
            </a:r>
            <a:r>
              <a:rPr lang="zh-CN" altLang="en-US" sz="4000"/>
              <a:t>其他的优先级</a:t>
            </a:r>
            <a:endParaRPr lang="zh-CN" altLang="en-US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0085" y="1645920"/>
            <a:ext cx="10515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/>
              <a:t>为什么会这样</a:t>
            </a:r>
            <a:r>
              <a:rPr lang="zh-CN" altLang="en-US" sz="4000"/>
              <a:t>呢？</a:t>
            </a:r>
            <a:endParaRPr lang="zh-CN" altLang="en-US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8170" y="1229360"/>
            <a:ext cx="10515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当深度为</a:t>
            </a:r>
            <a:r>
              <a:rPr lang="en-US" altLang="zh-CN" sz="4000">
                <a:sym typeface="+mn-ea"/>
              </a:rPr>
              <a:t>3</a:t>
            </a:r>
            <a:r>
              <a:rPr lang="zh-CN" altLang="en-US" sz="4000">
                <a:sym typeface="+mn-ea"/>
              </a:rPr>
              <a:t>的时候</a:t>
            </a:r>
            <a:r>
              <a:rPr lang="en-US" altLang="zh-CN" sz="4000">
                <a:sym typeface="+mn-ea"/>
              </a:rPr>
              <a:t>BFS</a:t>
            </a:r>
            <a:endParaRPr lang="zh-CN" altLang="en-US" sz="4000"/>
          </a:p>
        </p:txBody>
      </p:sp>
      <p:pic>
        <p:nvPicPr>
          <p:cNvPr id="6" name="图片 5" descr="Untitled Diagram.drawio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4160" y="740410"/>
            <a:ext cx="6414135" cy="5377180"/>
          </a:xfrm>
          <a:prstGeom prst="rect">
            <a:avLst/>
          </a:prstGeom>
        </p:spPr>
      </p:pic>
      <p:sp>
        <p:nvSpPr>
          <p:cNvPr id="7" name="TextBox 3"/>
          <p:cNvSpPr txBox="1"/>
          <p:nvPr/>
        </p:nvSpPr>
        <p:spPr>
          <a:xfrm>
            <a:off x="457200" y="3267075"/>
            <a:ext cx="10515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/>
              <a:t>可以访问到最后的这个</a:t>
            </a:r>
            <a:r>
              <a:rPr lang="zh-CN" altLang="en-US" sz="4000"/>
              <a:t>节点</a:t>
            </a:r>
            <a:endParaRPr lang="zh-CN" altLang="en-US" sz="40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421505" y="4176395"/>
            <a:ext cx="922655" cy="895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Untitled Diagram.drawio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460" y="917575"/>
            <a:ext cx="5996305" cy="50272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6555" y="1229360"/>
            <a:ext cx="10515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/>
              <a:t>当深度为</a:t>
            </a:r>
            <a:r>
              <a:rPr lang="en-US" altLang="zh-CN" sz="4000"/>
              <a:t>3</a:t>
            </a:r>
            <a:r>
              <a:rPr lang="zh-CN" altLang="en-US" sz="4000"/>
              <a:t>的时候</a:t>
            </a:r>
            <a:r>
              <a:rPr lang="en-US" altLang="zh-CN" sz="4000"/>
              <a:t>DFS</a:t>
            </a:r>
            <a:endParaRPr lang="en-US" altLang="zh-CN" sz="4000"/>
          </a:p>
        </p:txBody>
      </p:sp>
      <p:sp>
        <p:nvSpPr>
          <p:cNvPr id="7" name="文本框 6"/>
          <p:cNvSpPr txBox="1"/>
          <p:nvPr/>
        </p:nvSpPr>
        <p:spPr>
          <a:xfrm>
            <a:off x="2563495" y="2709545"/>
            <a:ext cx="45961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800"/>
              </a:spcAft>
              <a:buClrTx/>
              <a:buSzTx/>
              <a:buFontTx/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深度其实可以为2的节点，在DFS中为3</a:t>
            </a:r>
            <a:endParaRPr lang="zh-CN" altLang="en-US" sz="40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6413500" y="4094480"/>
            <a:ext cx="1459230" cy="696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94945" y="4184650"/>
            <a:ext cx="49072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800"/>
              </a:spcAft>
              <a:buClrTx/>
              <a:buSzTx/>
              <a:buFontTx/>
              <a:defRPr sz="1800">
                <a:solidFill>
                  <a:srgbClr val="595959"/>
                </a:solidFill>
              </a:defRPr>
            </a:pPr>
            <a:r>
              <a:rPr lang="zh-CN" altLang="en-US" sz="4000"/>
              <a:t>深度为其实可以为</a:t>
            </a:r>
            <a:r>
              <a:rPr lang="en-US" altLang="zh-CN" sz="4000"/>
              <a:t>3</a:t>
            </a:r>
            <a:r>
              <a:rPr lang="zh-CN" altLang="en-US" sz="4000"/>
              <a:t>的节点，在</a:t>
            </a:r>
            <a:r>
              <a:rPr lang="en-US" altLang="zh-CN" sz="4000"/>
              <a:t>DFS</a:t>
            </a:r>
            <a:r>
              <a:rPr lang="zh-CN" altLang="en-US" sz="4000"/>
              <a:t>中为</a:t>
            </a:r>
            <a:r>
              <a:rPr lang="en-US" altLang="zh-CN" sz="4000"/>
              <a:t>4</a:t>
            </a:r>
            <a:endParaRPr lang="en-US" altLang="zh-CN" sz="400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4316730" y="5605780"/>
            <a:ext cx="6223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205720" y="1842770"/>
            <a:ext cx="296545" cy="86677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1220450" y="4124325"/>
            <a:ext cx="7620" cy="66675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9169400" y="5139055"/>
            <a:ext cx="918210" cy="762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0085" y="1645920"/>
            <a:ext cx="10515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/>
              <a:t>为什么会这样</a:t>
            </a:r>
            <a:r>
              <a:rPr lang="zh-CN" altLang="en-US" sz="4000"/>
              <a:t>呢？</a:t>
            </a:r>
            <a:endParaRPr lang="zh-CN" altLang="en-US" sz="4000"/>
          </a:p>
        </p:txBody>
      </p:sp>
      <p:sp>
        <p:nvSpPr>
          <p:cNvPr id="6" name="TextBox 3"/>
          <p:cNvSpPr txBox="1"/>
          <p:nvPr/>
        </p:nvSpPr>
        <p:spPr>
          <a:xfrm>
            <a:off x="680085" y="2987675"/>
            <a:ext cx="1051560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/>
              <a:t>BFS</a:t>
            </a:r>
            <a:r>
              <a:rPr lang="zh-CN" altLang="en-US" sz="4000"/>
              <a:t>记录的是最短路径，每个节点的深度都是最小的，所以访问的</a:t>
            </a:r>
            <a:r>
              <a:rPr lang="en-US" altLang="zh-CN" sz="4000"/>
              <a:t>URL</a:t>
            </a:r>
            <a:r>
              <a:rPr lang="zh-CN" altLang="en-US" sz="4000"/>
              <a:t>数量比</a:t>
            </a:r>
            <a:r>
              <a:rPr lang="en-US" altLang="zh-CN" sz="4000"/>
              <a:t>DFS</a:t>
            </a:r>
            <a:r>
              <a:rPr lang="zh-CN" altLang="en-US" sz="4000"/>
              <a:t>或者其他优先级要</a:t>
            </a:r>
            <a:r>
              <a:rPr lang="zh-CN" altLang="en-US" sz="4000"/>
              <a:t>多。</a:t>
            </a:r>
            <a:endParaRPr lang="zh-CN" altLang="en-US" sz="4000"/>
          </a:p>
        </p:txBody>
      </p:sp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180" y="1583690"/>
            <a:ext cx="7713980" cy="4519295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1229360"/>
            <a:ext cx="9971405" cy="38334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9615" y="5149215"/>
            <a:ext cx="101377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运行时刻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搜集的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数量更多，因为搜索的面较为广泛。</a:t>
            </a:r>
            <a:endParaRPr lang="zh-CN" altLang="en-US" sz="4000"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729615" y="5149215"/>
            <a:ext cx="101377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且运行时刻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能够更多的，更快的，更正确的记录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到队列</a:t>
            </a:r>
            <a:r>
              <a:rPr lang="zh-CN" altLang="en-US" sz="4000">
                <a:sym typeface="+mn-ea"/>
              </a:rPr>
              <a:t>里。</a:t>
            </a:r>
            <a:endParaRPr lang="zh-CN" altLang="en-US" sz="4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7940"/>
            <a:ext cx="11770360" cy="3513455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729615" y="5149215"/>
            <a:ext cx="101377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运行时刻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待处理的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较多，</a:t>
            </a:r>
            <a:r>
              <a:rPr lang="en-US" altLang="zh-CN" sz="4000">
                <a:sym typeface="+mn-ea"/>
              </a:rPr>
              <a:t>DFS</a:t>
            </a:r>
            <a:r>
              <a:rPr lang="zh-CN" altLang="en-US" sz="4000">
                <a:sym typeface="+mn-ea"/>
              </a:rPr>
              <a:t>则</a:t>
            </a:r>
            <a:r>
              <a:rPr lang="zh-CN" altLang="en-US" sz="4000">
                <a:sym typeface="+mn-ea"/>
              </a:rPr>
              <a:t>较少。</a:t>
            </a:r>
            <a:endParaRPr lang="zh-CN" altLang="en-US" sz="4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55" y="1397000"/>
            <a:ext cx="12190730" cy="3161030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729615" y="5149215"/>
            <a:ext cx="101377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过程中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处理的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深度会先处理深度较浅的，</a:t>
            </a:r>
            <a:r>
              <a:rPr lang="en-US" altLang="zh-CN" sz="4000">
                <a:sym typeface="+mn-ea"/>
              </a:rPr>
              <a:t>DFS</a:t>
            </a:r>
            <a:r>
              <a:rPr lang="zh-CN" altLang="en-US" sz="4000">
                <a:sym typeface="+mn-ea"/>
              </a:rPr>
              <a:t>则相反，先处理深度较深</a:t>
            </a:r>
            <a:r>
              <a:rPr lang="zh-CN" altLang="en-US" sz="4000">
                <a:sym typeface="+mn-ea"/>
              </a:rPr>
              <a:t>的。</a:t>
            </a:r>
            <a:endParaRPr lang="zh-CN" altLang="en-US" sz="4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10" y="1292225"/>
            <a:ext cx="9354185" cy="3856990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729615" y="5149215"/>
            <a:ext cx="101377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文件大小分布暂且无规律，响应时间基本</a:t>
            </a:r>
            <a:r>
              <a:rPr lang="zh-CN" altLang="en-US" sz="4000">
                <a:sym typeface="+mn-ea"/>
              </a:rPr>
              <a:t>一致。</a:t>
            </a:r>
            <a:endParaRPr lang="zh-CN" altLang="en-US" sz="4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730" y="718185"/>
            <a:ext cx="8267065" cy="4522470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729615" y="5149215"/>
            <a:ext cx="101377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热度方面，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能够找到热度更高的资源</a:t>
            </a:r>
            <a:endParaRPr lang="zh-CN" altLang="en-US" sz="4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690" y="762000"/>
            <a:ext cx="9147810" cy="4257675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457200" y="5793105"/>
            <a:ext cx="113220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最终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获取的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多于</a:t>
            </a:r>
            <a:r>
              <a:rPr lang="en-US" altLang="zh-CN" sz="4000">
                <a:sym typeface="+mn-ea"/>
              </a:rPr>
              <a:t>DFS</a:t>
            </a:r>
            <a:r>
              <a:rPr lang="zh-CN" altLang="en-US" sz="4000">
                <a:sym typeface="+mn-ea"/>
              </a:rPr>
              <a:t>，其他无太大</a:t>
            </a:r>
            <a:r>
              <a:rPr lang="zh-CN" altLang="en-US" sz="4000">
                <a:sym typeface="+mn-ea"/>
              </a:rPr>
              <a:t>差别</a:t>
            </a:r>
            <a:endParaRPr lang="zh-CN" altLang="en-US" sz="4000"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  <p:pic>
        <p:nvPicPr>
          <p:cNvPr id="2" name="图片 1" descr="屏幕截图 2025-12-15 2129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450850"/>
            <a:ext cx="8947785" cy="49161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本框 6"/>
          <p:cNvSpPr txBox="1"/>
          <p:nvPr/>
        </p:nvSpPr>
        <p:spPr>
          <a:xfrm>
            <a:off x="626110" y="13201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其他可能的</a:t>
            </a:r>
            <a:r>
              <a:rPr lang="zh-CN" altLang="en-US" sz="4000">
                <a:sym typeface="+mn-ea"/>
              </a:rPr>
              <a:t>原因：</a:t>
            </a:r>
            <a:endParaRPr lang="zh-CN" altLang="en-US" sz="40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350" y="2106930"/>
            <a:ext cx="11931015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>
                <a:sym typeface="+mn-ea"/>
              </a:rPr>
              <a:t>1.</a:t>
            </a:r>
            <a:r>
              <a:rPr lang="zh-CN" altLang="en-US" sz="4000">
                <a:sym typeface="+mn-ea"/>
              </a:rPr>
              <a:t>网站的反爬虫机制，对深度越深的文件越</a:t>
            </a:r>
            <a:r>
              <a:rPr lang="zh-CN" altLang="en-US" sz="4000">
                <a:sym typeface="+mn-ea"/>
              </a:rPr>
              <a:t>敏感</a:t>
            </a:r>
            <a:endParaRPr lang="zh-CN" altLang="en-US" sz="4000">
              <a:sym typeface="+mn-ea"/>
            </a:endParaRP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>
                <a:sym typeface="+mn-ea"/>
              </a:rPr>
              <a:t>2.</a:t>
            </a:r>
            <a:r>
              <a:rPr lang="zh-CN" altLang="en-US" sz="4000">
                <a:sym typeface="+mn-ea"/>
              </a:rPr>
              <a:t>对于动态网站，推荐的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链接会基于爬取到的链接，导致</a:t>
            </a:r>
            <a:r>
              <a:rPr lang="en-US" altLang="zh-CN" sz="4000">
                <a:sym typeface="+mn-ea"/>
              </a:rPr>
              <a:t>DFS</a:t>
            </a:r>
            <a:r>
              <a:rPr lang="zh-CN" altLang="en-US" sz="4000">
                <a:sym typeface="+mn-ea"/>
              </a:rPr>
              <a:t>会获得大量内容相似相近的重复</a:t>
            </a:r>
            <a:r>
              <a:rPr lang="zh-CN" altLang="en-US" sz="4000">
                <a:sym typeface="+mn-ea"/>
              </a:rPr>
              <a:t>链接。</a:t>
            </a:r>
            <a:endParaRPr lang="zh-CN" altLang="en-US" sz="4000">
              <a:sym typeface="+mn-ea"/>
            </a:endParaRP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endParaRPr lang="zh-CN" altLang="en-US" sz="4000">
              <a:sym typeface="+mn-ea"/>
            </a:endParaRP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主要原因：还是</a:t>
            </a: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选取的是最近的路径，能访问较多的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。</a:t>
            </a:r>
            <a:endParaRPr lang="zh-CN" altLang="en-US" sz="4000">
              <a:sym typeface="+mn-ea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本框 4"/>
          <p:cNvSpPr txBox="1"/>
          <p:nvPr/>
        </p:nvSpPr>
        <p:spPr>
          <a:xfrm>
            <a:off x="626110" y="1631315"/>
            <a:ext cx="10020935" cy="2758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 sz="4000">
                <a:sym typeface="+mn-ea"/>
              </a:rPr>
              <a:t>应用</a:t>
            </a:r>
            <a:r>
              <a:rPr lang="zh-CN" altLang="en-US" sz="4000">
                <a:sym typeface="+mn-ea"/>
              </a:rPr>
              <a:t>场景：</a:t>
            </a:r>
            <a:endParaRPr lang="zh-CN" altLang="en-US" sz="4000">
              <a:sym typeface="+mn-ea"/>
            </a:endParaRP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>
                <a:sym typeface="+mn-ea"/>
              </a:rPr>
              <a:t>BFS</a:t>
            </a:r>
            <a:r>
              <a:rPr lang="zh-CN" altLang="en-US" sz="4000">
                <a:sym typeface="+mn-ea"/>
              </a:rPr>
              <a:t>可以获取整个网站的</a:t>
            </a:r>
            <a:r>
              <a:rPr lang="zh-CN" altLang="en-US" sz="4000">
                <a:sym typeface="+mn-ea"/>
              </a:rPr>
              <a:t>全貌。</a:t>
            </a:r>
            <a:endParaRPr lang="zh-CN" altLang="en-US" sz="4000">
              <a:sym typeface="+mn-ea"/>
            </a:endParaRP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 sz="4000">
                <a:sym typeface="+mn-ea"/>
              </a:rPr>
              <a:t>DFS</a:t>
            </a:r>
            <a:r>
              <a:rPr lang="zh-CN" altLang="en-US" sz="4000">
                <a:sym typeface="+mn-ea"/>
              </a:rPr>
              <a:t>可以较快的访问某一指定</a:t>
            </a:r>
            <a:r>
              <a:rPr lang="en-US" altLang="zh-CN" sz="4000">
                <a:sym typeface="+mn-ea"/>
              </a:rPr>
              <a:t>URL</a:t>
            </a:r>
            <a:r>
              <a:rPr lang="zh-CN" altLang="en-US" sz="4000">
                <a:sym typeface="+mn-ea"/>
              </a:rPr>
              <a:t>及其相关的资源，寻找同一类或同种的</a:t>
            </a:r>
            <a:r>
              <a:rPr lang="zh-CN" altLang="en-US" sz="4000">
                <a:sym typeface="+mn-ea"/>
              </a:rPr>
              <a:t>资源。</a:t>
            </a:r>
            <a:endParaRPr lang="zh-CN" altLang="en-US" sz="4000">
              <a:sym typeface="+mn-ea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457200" y="365760"/>
            <a:ext cx="3859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2</a:t>
            </a:r>
            <a:r>
              <a:t>. </a:t>
            </a:r>
            <a:r>
              <a:rPr lang="en-US"/>
              <a:t>DFS</a:t>
            </a:r>
            <a:r>
              <a:rPr lang="zh-CN" altLang="en-US"/>
              <a:t>与</a:t>
            </a:r>
            <a:r>
              <a:rPr lang="en-US" altLang="zh-CN"/>
              <a:t>BFS</a:t>
            </a:r>
            <a:r>
              <a:rPr lang="zh-CN" altLang="en-US"/>
              <a:t>的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15740" y="2743200"/>
            <a:ext cx="385572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zh-CN"/>
              <a:t>请批评</a:t>
            </a:r>
            <a:r>
              <a:rPr lang="zh-CN"/>
              <a:t>指正！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演示</Application>
  <PresentationFormat>On-screen Show (4:3)</PresentationFormat>
  <Paragraphs>105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杨子衡</cp:lastModifiedBy>
  <cp:revision>9</cp:revision>
  <dcterms:created xsi:type="dcterms:W3CDTF">2013-01-27T09:14:00Z</dcterms:created>
  <dcterms:modified xsi:type="dcterms:W3CDTF">2025-12-21T11:55:28Z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7B384E61090A467AB34C50158340F927_12</vt:lpwstr>
  </property>
  <property fmtid="{D5CDD505-2E9C-101B-9397-08002B2CF9AE}" pid="3" name="KSOProductBuildVer">
    <vt:lpwstr>2052-12.1.0.24034</vt:lpwstr>
  </property>
</Properties>
</file>