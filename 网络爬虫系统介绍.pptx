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3" r:id="rId16"/>
    <p:sldId id="279" r:id="rId17"/>
    <p:sldId id="280" r:id="rId18"/>
    <p:sldId id="281" r:id="rId19"/>
    <p:sldId id="282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66" r:id="rId29"/>
    <p:sldId id="271" r:id="rId3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4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85235" y="1371600"/>
            <a:ext cx="4316730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网络爬虫系统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69753" y="2743200"/>
            <a:ext cx="314769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Web Crawler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66603" y="4572000"/>
            <a:ext cx="275399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95959"/>
                </a:solidFill>
              </a:defRPr>
            </a:pPr>
            <a:r>
              <a:rPr lang="zh-CN"/>
              <a:t>汇报人：计科</a:t>
            </a:r>
            <a:r>
              <a:rPr lang="en-US" altLang="zh-CN"/>
              <a:t>2305 </a:t>
            </a:r>
            <a:r>
              <a:rPr lang="zh-CN" altLang="en-US"/>
              <a:t>杨子衡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2921635" cy="4646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1. 项目概述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2. 开发平台与技术栈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3. 语言优势分析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4. 系统架构设计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5. </a:t>
            </a:r>
            <a:r>
              <a:rPr lang="zh-CN"/>
              <a:t>前端展示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6</a:t>
            </a:r>
            <a:r>
              <a:rPr lang="en-US"/>
              <a:t>. api</a:t>
            </a:r>
            <a:r>
              <a:rPr lang="zh-CN" altLang="en-US"/>
              <a:t>接口设计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7. </a:t>
            </a:r>
            <a:r>
              <a:rPr lang="zh-CN"/>
              <a:t>业务逻辑</a:t>
            </a:r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t>8. </a:t>
            </a:r>
            <a:r>
              <a:rPr lang="zh-CN"/>
              <a:t>数据库</a:t>
            </a:r>
            <a:r>
              <a:rPr lang="zh-CN"/>
              <a:t>设计</a:t>
            </a:r>
            <a:endParaRPr lang="zh-CN"/>
          </a:p>
          <a:p>
            <a:pPr>
              <a:spcAft>
                <a:spcPts val="1200"/>
              </a:spcAft>
              <a:defRPr sz="2400">
                <a:solidFill>
                  <a:srgbClr val="595959"/>
                </a:solidFill>
              </a:defRPr>
            </a:pPr>
            <a:r>
              <a:rPr lang="en-US" altLang="zh-CN"/>
              <a:t>9. </a:t>
            </a:r>
            <a:r>
              <a:rPr lang="zh-CN" altLang="en-US"/>
              <a:t>代码</a:t>
            </a:r>
            <a:r>
              <a:rPr lang="zh-CN" altLang="en-US"/>
              <a:t>结构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1. 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199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/>
              <a:t>设计并实现一个友好的图形化网络爬虫界面。</a:t>
            </a:r>
            <a:endParaRPr lang="zh-CN" altLang="en-US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zh-CN" altLang="en-US"/>
              <a:t>题目要求：</a:t>
            </a:r>
            <a:endParaRPr lang="zh-CN" altLang="en-US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/>
              <a:t>1</a:t>
            </a:r>
            <a:r>
              <a:rPr lang="zh-CN" altLang="en-US"/>
              <a:t>、实现基于请求队列的广度优先爬取策略</a:t>
            </a:r>
            <a:r>
              <a:rPr lang="en-US" altLang="zh-CN"/>
              <a:t>/</a:t>
            </a:r>
            <a:r>
              <a:rPr lang="zh-CN" altLang="en-US"/>
              <a:t>深度优先爬取策略</a:t>
            </a:r>
            <a:r>
              <a:rPr lang="en-US" altLang="zh-CN"/>
              <a:t>/</a:t>
            </a:r>
            <a:r>
              <a:rPr lang="zh-CN" altLang="en-US"/>
              <a:t>大战优先爬取策略（三种策略至少实现一种以上），实现</a:t>
            </a:r>
            <a:r>
              <a:rPr lang="en-US" altLang="zh-CN"/>
              <a:t>Robots</a:t>
            </a:r>
            <a:r>
              <a:rPr lang="zh-CN" altLang="en-US"/>
              <a:t>协议解析与遵守，实现</a:t>
            </a:r>
            <a:r>
              <a:rPr lang="en-US" altLang="zh-CN"/>
              <a:t>URL</a:t>
            </a:r>
            <a:r>
              <a:rPr lang="zh-CN" altLang="en-US"/>
              <a:t>去重</a:t>
            </a:r>
            <a:r>
              <a:rPr lang="en-US" altLang="zh-CN"/>
              <a:t>PDF</a:t>
            </a:r>
            <a:r>
              <a:rPr lang="zh-CN" altLang="en-US"/>
              <a:t>链接</a:t>
            </a:r>
            <a:endParaRPr lang="zh-CN" altLang="en-US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/>
              <a:t>2</a:t>
            </a:r>
            <a:r>
              <a:rPr lang="zh-CN" altLang="en-US"/>
              <a:t>、提取关键信息：标题、作者、摘要、关键词、发表时间、</a:t>
            </a:r>
            <a:r>
              <a:rPr lang="en-US" altLang="zh-CN"/>
              <a:t>URL</a:t>
            </a:r>
            <a:r>
              <a:rPr lang="zh-CN" altLang="en-US"/>
              <a:t>链接等，并能保存下来。</a:t>
            </a:r>
            <a:endParaRPr lang="zh-CN" altLang="en-US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/>
              <a:t>3</a:t>
            </a:r>
            <a:r>
              <a:rPr lang="zh-CN" altLang="en-US"/>
              <a:t>、实现爬取速率控制（请求间隔），能够监控爬取状态和记录爬取日志，有一定的设计异常处理机制（网络异常、解析失败等）。</a:t>
            </a:r>
            <a:endParaRPr lang="zh-CN" altLang="en-US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  <a:r>
              <a:rPr lang="en-US" altLang="zh-CN"/>
              <a:t>4</a:t>
            </a:r>
            <a:r>
              <a:rPr lang="zh-CN" altLang="en-US"/>
              <a:t>、界面友好，能够控制爬取的开始和结束，能够显示爬取状态、爬取结果等各种信息。</a:t>
            </a:r>
            <a:endParaRPr lang="zh-CN" altLang="en-US"/>
          </a:p>
          <a:p>
            <a:pPr>
              <a:spcAft>
                <a:spcPts val="800"/>
              </a:spcAft>
              <a:defRPr sz="1800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2. 开发平台与技术栈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723900" y="1974215"/>
            <a:ext cx="4572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3200"/>
              <a:t>后端技术</a:t>
            </a:r>
            <a:endParaRPr sz="3200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723900" y="2431415"/>
            <a:ext cx="5029200" cy="2933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Python 3.8+ - 主开发语言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Flask - 轻量级Web框架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SQLite - 嵌入式数据库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Threading - 多线程并发处理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Requests - HTTP请求库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BeautifulSoup4 - HTML解析</a:t>
            </a:r>
            <a:endParaRPr sz="2800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393180" y="1974215"/>
            <a:ext cx="457200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3200"/>
              <a:t>前端</a:t>
            </a:r>
            <a:r>
              <a:rPr lang="en-US" sz="3200"/>
              <a:t>UI</a:t>
            </a:r>
            <a:r>
              <a:rPr sz="3200"/>
              <a:t>技术</a:t>
            </a:r>
            <a:endParaRPr sz="3200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6393180" y="2431415"/>
            <a:ext cx="5029200" cy="196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HTML + CSS - 页面结构与样式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JavaScript - 交互逻辑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sz="2800"/>
              <a:t>Chart.js - 数据可视化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altLang="zh-CN" sz="2800"/>
              <a:t>WebSocket-</a:t>
            </a:r>
            <a:r>
              <a:rPr lang="zh-CN" altLang="en-US" sz="2800"/>
              <a:t>实现实时监控。</a:t>
            </a:r>
            <a:endParaRPr lang="zh-CN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3. 语言优势分析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9997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B050"/>
                </a:solidFill>
              </a:defRPr>
            </a:pPr>
            <a:r>
              <a:rPr sz="3200"/>
              <a:t>Python 优势</a:t>
            </a:r>
            <a:endParaRPr sz="3200"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245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1.</a:t>
            </a:r>
            <a:r>
              <a:rPr sz="2800"/>
              <a:t> 丰富的爬虫生态系统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2.</a:t>
            </a:r>
            <a:r>
              <a:rPr sz="2800"/>
              <a:t> 简洁的语法，开发效率高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3.</a:t>
            </a:r>
            <a:r>
              <a:rPr sz="2800"/>
              <a:t> 强大的字符串处理能力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4.</a:t>
            </a:r>
            <a:r>
              <a:rPr sz="2800"/>
              <a:t> 完善的网络请求库支持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5.</a:t>
            </a:r>
            <a:r>
              <a:rPr sz="2800"/>
              <a:t> 跨平台兼容性好</a:t>
            </a:r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277114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900"/>
                </a:solidFill>
              </a:defRPr>
            </a:pPr>
            <a:r>
              <a:rPr sz="3200"/>
              <a:t>JavaScript 优势</a:t>
            </a:r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2451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1.</a:t>
            </a:r>
            <a:r>
              <a:rPr sz="2800"/>
              <a:t> 原生浏览器支持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2.</a:t>
            </a:r>
            <a:r>
              <a:rPr sz="2800"/>
              <a:t> 异步编程模型成熟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3.</a:t>
            </a:r>
            <a:r>
              <a:rPr sz="2800"/>
              <a:t> 丰富的UI组件库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4.</a:t>
            </a:r>
            <a:r>
              <a:rPr sz="2800"/>
              <a:t> 实时数据更新能力</a:t>
            </a:r>
            <a:endParaRPr sz="2800"/>
          </a:p>
          <a:p>
            <a:pPr>
              <a:spcAft>
                <a:spcPts val="400"/>
              </a:spcAft>
              <a:defRPr sz="1400">
                <a:solidFill>
                  <a:srgbClr val="595959"/>
                </a:solidFill>
              </a:defRPr>
            </a:pPr>
            <a:r>
              <a:rPr lang="en-US" sz="2800"/>
              <a:t>5.</a:t>
            </a:r>
            <a:r>
              <a:rPr sz="2800"/>
              <a:t> 良好的用户交互体验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4. 系统架构设计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Consolas" panose="020B0609020204030204"/>
              </a:defRPr>
            </a:pPr>
          </a:p>
        </p:txBody>
      </p:sp>
      <p:graphicFrame>
        <p:nvGraphicFramePr>
          <p:cNvPr id="5" name="表格 4"/>
          <p:cNvGraphicFramePr/>
          <p:nvPr/>
        </p:nvGraphicFramePr>
        <p:xfrm>
          <a:off x="854075" y="1422400"/>
          <a:ext cx="10483850" cy="4352925"/>
        </p:xfrm>
        <a:graphic>
          <a:graphicData uri="http://schemas.openxmlformats.org/drawingml/2006/table">
            <a:tbl>
              <a:tblPr/>
              <a:tblGrid>
                <a:gridCol w="5241925"/>
                <a:gridCol w="5241925"/>
              </a:tblGrid>
              <a:tr h="87058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架构分层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</a:rPr>
                        <a:t>包含组件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114617" marR="114617" marT="76517" marB="76517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058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前端展示层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(Web UI)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HTML5/CSS3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JS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Chart.js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058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API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接口层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(Flask REST)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任务管理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API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、监控数据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API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记录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API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、统计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API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058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业务逻辑层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(Core Engine)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CrawlerThread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Database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HTTP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轮询、元数据提取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70585"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数据存储层 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(SQLite)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ts val="14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tasks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表、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url_records </a:t>
                      </a:r>
                      <a:r>
                        <a:rPr lang="zh-CN" altLang="en-US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表、索引优化、外键约束</a:t>
                      </a:r>
                      <a:endParaRPr lang="zh-CN" altLang="en-US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114617" marR="114617" marT="76517" marB="76517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7490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5. </a:t>
            </a:r>
            <a:r>
              <a:rPr lang="zh-CN" altLang="en-US"/>
              <a:t>前端</a:t>
            </a:r>
            <a:r>
              <a:rPr lang="en-US" altLang="zh-CN"/>
              <a:t>web ui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9925" y="1229360"/>
            <a:ext cx="9378315" cy="54133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84785" y="169799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创建任务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7490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5. </a:t>
            </a:r>
            <a:r>
              <a:rPr lang="zh-CN" altLang="en-US"/>
              <a:t>前端</a:t>
            </a:r>
            <a:r>
              <a:rPr lang="en-US" altLang="zh-CN"/>
              <a:t>web ui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本框 7"/>
          <p:cNvSpPr txBox="1"/>
          <p:nvPr/>
        </p:nvSpPr>
        <p:spPr>
          <a:xfrm>
            <a:off x="184785" y="169799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任务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监控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1229360"/>
            <a:ext cx="9829165" cy="5465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7490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5. </a:t>
            </a:r>
            <a:r>
              <a:rPr lang="zh-CN" altLang="en-US"/>
              <a:t>前端</a:t>
            </a:r>
            <a:r>
              <a:rPr lang="en-US" altLang="zh-CN"/>
              <a:t>web ui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本框 7"/>
          <p:cNvSpPr txBox="1"/>
          <p:nvPr/>
        </p:nvSpPr>
        <p:spPr>
          <a:xfrm>
            <a:off x="184785" y="169799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爬取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列表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6910" y="1251585"/>
            <a:ext cx="9895840" cy="5607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7490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5. </a:t>
            </a:r>
            <a:r>
              <a:rPr lang="zh-CN" altLang="en-US"/>
              <a:t>前端</a:t>
            </a:r>
            <a:r>
              <a:rPr lang="en-US" altLang="zh-CN"/>
              <a:t>web ui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本框 7"/>
          <p:cNvSpPr txBox="1"/>
          <p:nvPr/>
        </p:nvSpPr>
        <p:spPr>
          <a:xfrm>
            <a:off x="184785" y="169799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数据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分析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0715" y="1223645"/>
            <a:ext cx="9886950" cy="5661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7490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5. </a:t>
            </a:r>
            <a:r>
              <a:rPr lang="zh-CN" altLang="en-US"/>
              <a:t>前端</a:t>
            </a:r>
            <a:r>
              <a:rPr lang="en-US" altLang="zh-CN"/>
              <a:t>web ui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本框 7"/>
          <p:cNvSpPr txBox="1"/>
          <p:nvPr/>
        </p:nvSpPr>
        <p:spPr>
          <a:xfrm>
            <a:off x="184785" y="169799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日志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记录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315" y="1229360"/>
            <a:ext cx="10208895" cy="57207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74904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5. </a:t>
            </a:r>
            <a:r>
              <a:rPr lang="zh-CN" altLang="en-US"/>
              <a:t>前端</a:t>
            </a:r>
            <a:r>
              <a:rPr lang="en-US" altLang="zh-CN"/>
              <a:t>web ui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本框 7"/>
          <p:cNvSpPr txBox="1"/>
          <p:nvPr/>
        </p:nvSpPr>
        <p:spPr>
          <a:xfrm>
            <a:off x="184785" y="1697990"/>
            <a:ext cx="2199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日志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记录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315" y="1229360"/>
            <a:ext cx="10208895" cy="57207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6593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6. API</a:t>
            </a:r>
            <a:r>
              <a:rPr lang="zh-CN" altLang="en-US"/>
              <a:t>接口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本框 6"/>
          <p:cNvSpPr txBox="1"/>
          <p:nvPr/>
        </p:nvSpPr>
        <p:spPr>
          <a:xfrm>
            <a:off x="1163320" y="2466340"/>
            <a:ext cx="9661525" cy="2638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Flask REST API </a:t>
            </a:r>
            <a:r>
              <a:rPr lang="zh-CN" altLang="en-US" sz="2400"/>
              <a:t>架构</a:t>
            </a:r>
            <a:endParaRPr lang="zh-CN" altLang="en-US" sz="2400"/>
          </a:p>
          <a:p>
            <a:r>
              <a:rPr lang="en-US" altLang="en-US" sz="2400"/>
              <a:t>├──</a:t>
            </a:r>
            <a:r>
              <a:rPr lang="en-US" altLang="zh-CN" sz="2400"/>
              <a:t> </a:t>
            </a:r>
            <a:r>
              <a:rPr lang="zh-CN" altLang="en-US" sz="2400"/>
              <a:t>基础路径</a:t>
            </a:r>
            <a:r>
              <a:rPr lang="en-US" altLang="zh-CN" sz="2400"/>
              <a:t>: /api/v1/</a:t>
            </a:r>
            <a:endParaRPr lang="en-US" altLang="zh-CN" sz="2400"/>
          </a:p>
          <a:p>
            <a:r>
              <a:rPr lang="en-US" altLang="en-US" sz="2400"/>
              <a:t>├──</a:t>
            </a:r>
            <a:r>
              <a:rPr lang="en-US" altLang="zh-CN" sz="2400"/>
              <a:t> </a:t>
            </a:r>
            <a:r>
              <a:rPr lang="zh-CN" altLang="en-US" sz="2400"/>
              <a:t>统一响应格式</a:t>
            </a:r>
            <a:r>
              <a:rPr lang="en-US" altLang="zh-CN" sz="2400"/>
              <a:t>: {"success": true/false, "data": {...}, "error": "..."}</a:t>
            </a:r>
            <a:endParaRPr lang="en-US" altLang="zh-CN" sz="2400"/>
          </a:p>
          <a:p>
            <a:r>
              <a:rPr lang="en-US" altLang="en-US" sz="2400"/>
              <a:t>├──</a:t>
            </a:r>
            <a:r>
              <a:rPr lang="en-US" altLang="zh-CN" sz="2400"/>
              <a:t> HTTP</a:t>
            </a:r>
            <a:r>
              <a:rPr lang="zh-CN" altLang="en-US" sz="2400"/>
              <a:t>方法</a:t>
            </a:r>
            <a:r>
              <a:rPr lang="en-US" altLang="zh-CN" sz="2400"/>
              <a:t>: GET, POST, PUT, DELETE</a:t>
            </a:r>
            <a:endParaRPr lang="en-US" altLang="zh-CN" sz="2400"/>
          </a:p>
          <a:p>
            <a:r>
              <a:rPr lang="en-US" altLang="en-US" sz="2400"/>
              <a:t>└──</a:t>
            </a:r>
            <a:r>
              <a:rPr lang="en-US" altLang="zh-CN" sz="2400"/>
              <a:t> </a:t>
            </a:r>
            <a:r>
              <a:rPr lang="zh-CN" altLang="en-US" sz="2400"/>
              <a:t>错误处理</a:t>
            </a:r>
            <a:r>
              <a:rPr lang="en-US" altLang="zh-CN" sz="2400"/>
              <a:t>: </a:t>
            </a:r>
            <a:r>
              <a:rPr lang="zh-CN" altLang="en-US" sz="2400"/>
              <a:t>全局异常捕获</a:t>
            </a:r>
            <a:r>
              <a:rPr lang="en-US" altLang="zh-CN" sz="2400"/>
              <a:t> + </a:t>
            </a:r>
            <a:r>
              <a:rPr lang="zh-CN" altLang="en-US" sz="2400"/>
              <a:t>状态码</a:t>
            </a:r>
            <a:endParaRPr lang="zh-CN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6593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6. API</a:t>
            </a:r>
            <a:r>
              <a:rPr lang="zh-CN" altLang="en-US"/>
              <a:t>接口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457200" y="1553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任务管理接口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2505075" y="1118870"/>
          <a:ext cx="9403080" cy="5579110"/>
        </p:xfrm>
        <a:graphic>
          <a:graphicData uri="http://schemas.openxmlformats.org/drawingml/2006/table">
            <a:tbl>
              <a:tblPr/>
              <a:tblGrid>
                <a:gridCol w="2093595"/>
                <a:gridCol w="1289050"/>
                <a:gridCol w="2777490"/>
                <a:gridCol w="2358390"/>
                <a:gridCol w="884555"/>
              </a:tblGrid>
              <a:tr h="39751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接口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方法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路径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功能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代码行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获取任务列表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获取所有任务及状态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1237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创建任务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创建新的爬虫任务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1252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7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获取单个任务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获取指定任务详情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1297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7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更新任务配置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PUT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修改任务配置参数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1317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7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删除任务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DELETE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删除任务及相关数据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1372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7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启动任务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/api/v1/tasks/{id}/start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启动爬虫任务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1397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暂停爬取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/api/v1/tasks/{id}/pause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暂停工作线程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1451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87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继续爬取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/api/v1/tasks/{id}/resume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恢复工作线程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1475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75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暂停队列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/api/v1/tasks/{id}/pause-queue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停止发现新URL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1544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975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继续队列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/api/v1/tasks/{id}/resume-queue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恢复URL发现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1580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停止任务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/api/v1/tasks/{id}/stop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完全停止任务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1616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6593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6. API</a:t>
            </a:r>
            <a:r>
              <a:rPr lang="zh-CN" altLang="en-US"/>
              <a:t>接口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457200" y="1553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监控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数据接口</a:t>
            </a:r>
            <a:endParaRPr lang="zh-CN" altLang="en-US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854075" y="2518410"/>
          <a:ext cx="10483850" cy="136271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45402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接口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方法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路径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功能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代码行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0868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实时监控数据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/api/v1/monitor/{id}/current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获取任务实时状态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1645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6593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6. API</a:t>
            </a:r>
            <a:r>
              <a:rPr lang="zh-CN" altLang="en-US"/>
              <a:t>接口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457200" y="1553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URL</a:t>
            </a:r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记录接口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854075" y="2204720"/>
          <a:ext cx="10483850" cy="256032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6400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接口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方法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路径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功能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代码行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00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URL列表查询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/api/v1/tasks/{id}/urls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获取URL记录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1748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00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导出任务数据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/api/v1/tasks/{id}/export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导出所有URL数据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1984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400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文件下载代理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/api/v1/download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通过爬虫下载文件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2003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6593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6. API</a:t>
            </a:r>
            <a:r>
              <a:rPr lang="zh-CN" altLang="en-US"/>
              <a:t>接口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457200" y="1553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统计分析接口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854075" y="2378075"/>
          <a:ext cx="10483850" cy="252476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50482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接口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方法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路径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功能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代码行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965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基础统计信息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/api/v1/tasks/{id}/stats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文件类型、状态统计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1896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1028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数据分析报告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/api/v1/tasks/{id}/analysis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深度分析数据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2112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6593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6. API</a:t>
            </a:r>
            <a:r>
              <a:rPr lang="zh-CN" altLang="en-US"/>
              <a:t>接口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457200" y="1553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panose="02010609060101010101" charset="-122"/>
                <a:ea typeface="黑体" panose="02010609060101010101" charset="-122"/>
              </a:rPr>
              <a:t>调试接口</a:t>
            </a:r>
            <a:r>
              <a:rPr lang="en-US" altLang="zh-CN"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854075" y="2332355"/>
          <a:ext cx="10483850" cy="2700655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53975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接口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方法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路径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功能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代码行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8013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活跃爬虫列表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GET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/api/v1/debug/active-crawlers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查看运行中的爬虫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1952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8077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强制清理任务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POST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/api/v1/debug/force-cleanup/{id}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清理僵尸任务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1964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7. </a:t>
            </a:r>
            <a:r>
              <a:rPr lang="zh-CN" altLang="en-US"/>
              <a:t>业务逻辑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文本框 4"/>
          <p:cNvSpPr txBox="1"/>
          <p:nvPr/>
        </p:nvSpPr>
        <p:spPr>
          <a:xfrm>
            <a:off x="1036320" y="1905635"/>
            <a:ext cx="759460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业务逻辑层</a:t>
            </a:r>
            <a:r>
              <a:rPr lang="en-US" altLang="zh-CN" sz="3200"/>
              <a:t> (app.py </a:t>
            </a:r>
            <a:r>
              <a:rPr lang="zh-CN" altLang="en-US" sz="3200"/>
              <a:t>第</a:t>
            </a:r>
            <a:r>
              <a:rPr lang="en-US" altLang="zh-CN" sz="3200"/>
              <a:t>211-1236</a:t>
            </a:r>
            <a:r>
              <a:rPr lang="zh-CN" altLang="en-US" sz="3200"/>
              <a:t>行</a:t>
            </a:r>
            <a:r>
              <a:rPr lang="en-US" altLang="zh-CN" sz="3200"/>
              <a:t>)</a:t>
            </a:r>
            <a:endParaRPr lang="en-US" altLang="zh-CN" sz="3200"/>
          </a:p>
          <a:p>
            <a:r>
              <a:rPr lang="en-US" altLang="en-US" sz="3200"/>
              <a:t>├──</a:t>
            </a:r>
            <a:r>
              <a:rPr lang="en-US" altLang="zh-CN" sz="3200"/>
              <a:t> </a:t>
            </a:r>
            <a:r>
              <a:rPr lang="zh-CN" altLang="en-US" sz="3200"/>
              <a:t>核心爬虫引擎</a:t>
            </a:r>
            <a:r>
              <a:rPr lang="en-US" altLang="zh-CN" sz="3200"/>
              <a:t> (CrawlerThread</a:t>
            </a:r>
            <a:r>
              <a:rPr lang="zh-CN" altLang="en-US" sz="3200"/>
              <a:t>类</a:t>
            </a:r>
            <a:r>
              <a:rPr lang="en-US" altLang="zh-CN" sz="3200"/>
              <a:t>)</a:t>
            </a:r>
            <a:endParaRPr lang="en-US" altLang="zh-CN" sz="3200"/>
          </a:p>
          <a:p>
            <a:r>
              <a:rPr lang="en-US" altLang="en-US" sz="3200"/>
              <a:t>├──</a:t>
            </a:r>
            <a:r>
              <a:rPr lang="en-US" altLang="zh-CN" sz="3200"/>
              <a:t> </a:t>
            </a:r>
            <a:r>
              <a:rPr lang="zh-CN" altLang="en-US" sz="3200"/>
              <a:t>数据库管理</a:t>
            </a:r>
            <a:r>
              <a:rPr lang="en-US" altLang="zh-CN" sz="3200"/>
              <a:t> (Database</a:t>
            </a:r>
            <a:r>
              <a:rPr lang="zh-CN" altLang="en-US" sz="3200"/>
              <a:t>类</a:t>
            </a:r>
            <a:r>
              <a:rPr lang="en-US" altLang="zh-CN" sz="3200"/>
              <a:t>) </a:t>
            </a:r>
            <a:endParaRPr lang="en-US" altLang="zh-CN" sz="3200"/>
          </a:p>
          <a:p>
            <a:r>
              <a:rPr lang="en-US" altLang="en-US" sz="3200"/>
              <a:t>├──</a:t>
            </a:r>
            <a:r>
              <a:rPr lang="en-US" altLang="zh-CN" sz="3200"/>
              <a:t> </a:t>
            </a:r>
            <a:r>
              <a:rPr lang="zh-CN" altLang="en-US" sz="3200"/>
              <a:t>任务管理逻辑</a:t>
            </a:r>
            <a:endParaRPr lang="zh-CN" altLang="en-US" sz="3200"/>
          </a:p>
          <a:p>
            <a:r>
              <a:rPr lang="en-US" altLang="en-US" sz="3200"/>
              <a:t>├──</a:t>
            </a:r>
            <a:r>
              <a:rPr lang="en-US" altLang="zh-CN" sz="3200"/>
              <a:t> </a:t>
            </a:r>
            <a:r>
              <a:rPr lang="zh-CN" altLang="en-US" sz="3200"/>
              <a:t>监控数据处理</a:t>
            </a:r>
            <a:endParaRPr lang="zh-CN" altLang="en-US" sz="3200"/>
          </a:p>
          <a:p>
            <a:r>
              <a:rPr lang="en-US" altLang="en-US" sz="3200"/>
              <a:t>└──</a:t>
            </a:r>
            <a:r>
              <a:rPr lang="en-US" altLang="zh-CN" sz="3200"/>
              <a:t> </a:t>
            </a:r>
            <a:r>
              <a:rPr lang="zh-CN" altLang="en-US" sz="3200"/>
              <a:t>统计分析逻辑</a:t>
            </a:r>
            <a:endParaRPr lang="zh-CN" altLang="en-US"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7. </a:t>
            </a:r>
            <a:r>
              <a:rPr lang="zh-CN" altLang="en-US"/>
              <a:t>业务逻辑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772795" y="1721485"/>
            <a:ext cx="706564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  <a:p>
            <a:r>
              <a:rPr lang="en-US" altLang="zh-CN"/>
              <a:t>class CrawlerThread(threading.Thread):</a:t>
            </a:r>
            <a:endParaRPr lang="en-US" altLang="zh-CN"/>
          </a:p>
          <a:p>
            <a:r>
              <a:rPr lang="en-US" altLang="zh-CN"/>
              <a:t>    """</a:t>
            </a:r>
            <a:r>
              <a:rPr lang="zh-CN" altLang="en-US"/>
              <a:t>多线程爬虫类</a:t>
            </a:r>
            <a:r>
              <a:rPr lang="en-US" altLang="zh-CN"/>
              <a:t> - </a:t>
            </a:r>
            <a:r>
              <a:rPr lang="zh-CN" altLang="en-US"/>
              <a:t>核心业务逻辑</a:t>
            </a:r>
            <a:r>
              <a:rPr lang="en-US" altLang="zh-CN"/>
              <a:t>"""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def __init__(self, task_id, task_config, db, socketio_instance):</a:t>
            </a:r>
            <a:endParaRPr lang="en-US" altLang="zh-CN"/>
          </a:p>
          <a:p>
            <a:r>
              <a:rPr lang="en-US" altLang="zh-CN"/>
              <a:t>        # </a:t>
            </a:r>
            <a:r>
              <a:rPr lang="zh-CN" altLang="en-US"/>
              <a:t>初始化爬虫状态和配置</a:t>
            </a:r>
            <a:endParaRPr lang="zh-CN" altLang="en-US"/>
          </a:p>
          <a:p>
            <a:r>
              <a:rPr lang="en-US" altLang="zh-CN"/>
              <a:t>        self.task_id = task_id</a:t>
            </a:r>
            <a:endParaRPr lang="en-US" altLang="zh-CN"/>
          </a:p>
          <a:p>
            <a:r>
              <a:rPr lang="en-US" altLang="zh-CN"/>
              <a:t>        self.config = task_config</a:t>
            </a:r>
            <a:endParaRPr lang="en-US" altLang="zh-CN"/>
          </a:p>
          <a:p>
            <a:r>
              <a:rPr lang="en-US" altLang="zh-CN"/>
              <a:t>        self.status = 'running'</a:t>
            </a:r>
            <a:endParaRPr lang="en-US" altLang="zh-CN"/>
          </a:p>
          <a:p>
            <a:r>
              <a:rPr lang="en-US" altLang="zh-CN"/>
              <a:t>        self.paused = False</a:t>
            </a:r>
            <a:endParaRPr lang="en-US" altLang="zh-CN"/>
          </a:p>
          <a:p>
            <a:r>
              <a:rPr lang="en-US" altLang="zh-CN"/>
              <a:t>        self.queue_paused = False</a:t>
            </a:r>
            <a:endParaRPr lang="en-US" altLang="zh-CN"/>
          </a:p>
          <a:p>
            <a:r>
              <a:rPr lang="en-US" altLang="zh-CN"/>
              <a:t>        self.stopped = False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7. </a:t>
            </a:r>
            <a:r>
              <a:rPr lang="zh-CN" altLang="en-US"/>
              <a:t>业务逻辑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659765" y="1774190"/>
            <a:ext cx="6096000" cy="51638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class Database:</a:t>
            </a:r>
            <a:endParaRPr lang="en-US" altLang="zh-CN"/>
          </a:p>
          <a:p>
            <a:r>
              <a:rPr lang="en-US" altLang="zh-CN"/>
              <a:t>    """</a:t>
            </a:r>
            <a:r>
              <a:rPr lang="zh-CN" altLang="en-US"/>
              <a:t>数据库业务逻辑管理</a:t>
            </a:r>
            <a:r>
              <a:rPr lang="en-US" altLang="zh-CN"/>
              <a:t>"""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def init_database(self):</a:t>
            </a:r>
            <a:endParaRPr lang="en-US" altLang="zh-CN"/>
          </a:p>
          <a:p>
            <a:r>
              <a:rPr lang="en-US" altLang="zh-CN"/>
              <a:t>        """</a:t>
            </a:r>
            <a:r>
              <a:rPr lang="zh-CN" altLang="en-US"/>
              <a:t>数据库初始化业务逻辑</a:t>
            </a:r>
            <a:r>
              <a:rPr lang="en-US" altLang="zh-CN"/>
              <a:t>"""</a:t>
            </a:r>
            <a:endParaRPr lang="en-US" altLang="zh-CN"/>
          </a:p>
          <a:p>
            <a:r>
              <a:rPr lang="en-US" altLang="zh-CN"/>
              <a:t>        </a:t>
            </a:r>
            <a:endParaRPr lang="en-US" altLang="zh-CN"/>
          </a:p>
          <a:p>
            <a:r>
              <a:rPr lang="en-US" altLang="zh-CN"/>
              <a:t>        # </a:t>
            </a:r>
            <a:r>
              <a:rPr lang="zh-CN" altLang="en-US"/>
              <a:t>业务规则</a:t>
            </a:r>
            <a:r>
              <a:rPr lang="en-US" altLang="zh-CN"/>
              <a:t>: </a:t>
            </a:r>
            <a:r>
              <a:rPr lang="zh-CN" altLang="en-US"/>
              <a:t>创建任务表</a:t>
            </a:r>
            <a:endParaRPr lang="zh-CN" altLang="en-US"/>
          </a:p>
          <a:p>
            <a:r>
              <a:rPr lang="en-US" altLang="zh-CN"/>
              <a:t>        cursor.execute('''</a:t>
            </a:r>
            <a:endParaRPr lang="en-US" altLang="zh-CN"/>
          </a:p>
          <a:p>
            <a:r>
              <a:rPr lang="en-US" altLang="zh-CN"/>
              <a:t>            CREATE TABLE IF NOT EXISTS tasks (</a:t>
            </a:r>
            <a:endParaRPr lang="en-US" altLang="zh-CN"/>
          </a:p>
          <a:p>
            <a:r>
              <a:rPr lang="en-US" altLang="zh-CN"/>
              <a:t>                id INTEGER PRIMARY KEY AUTOINCREMENT,</a:t>
            </a:r>
            <a:endParaRPr lang="en-US" altLang="zh-CN"/>
          </a:p>
          <a:p>
            <a:r>
              <a:rPr lang="en-US" altLang="zh-CN"/>
              <a:t>                name TEXT NOT NULL,</a:t>
            </a:r>
            <a:endParaRPr lang="en-US" altLang="zh-CN"/>
          </a:p>
          <a:p>
            <a:r>
              <a:rPr lang="en-US" altLang="zh-CN"/>
              <a:t>                url TEXT NOT NULL,</a:t>
            </a:r>
            <a:endParaRPr lang="en-US" altLang="zh-CN"/>
          </a:p>
          <a:p>
            <a:r>
              <a:rPr lang="en-US" altLang="zh-CN"/>
              <a:t>                status TEXT DEFAULT 'pending',</a:t>
            </a:r>
            <a:endParaRPr lang="en-US" altLang="zh-CN"/>
          </a:p>
          <a:p>
            <a:r>
              <a:rPr lang="en-US" altLang="zh-CN"/>
              <a:t>                queue_status TEXT DEFAULT 'active',</a:t>
            </a:r>
            <a:endParaRPr lang="en-US" altLang="zh-CN"/>
          </a:p>
          <a:p>
            <a:r>
              <a:rPr lang="en-US" altLang="zh-CN"/>
              <a:t>                # ... </a:t>
            </a:r>
            <a:r>
              <a:rPr lang="zh-CN" altLang="en-US"/>
              <a:t>更多业务字段</a:t>
            </a:r>
            <a:endParaRPr lang="zh-CN" altLang="en-US"/>
          </a:p>
          <a:p>
            <a:r>
              <a:rPr lang="en-US" altLang="zh-CN"/>
              <a:t>            )</a:t>
            </a:r>
            <a:endParaRPr lang="en-US" altLang="zh-CN"/>
          </a:p>
          <a:p>
            <a:r>
              <a:rPr lang="en-US" altLang="zh-CN"/>
              <a:t>        ''')</a:t>
            </a:r>
            <a:endParaRPr lang="en-US" altLang="zh-CN"/>
          </a:p>
          <a:p>
            <a:r>
              <a:rPr lang="en-US" altLang="zh-CN"/>
              <a:t>        </a:t>
            </a:r>
            <a:endParaRPr lang="en-US" altLang="zh-CN"/>
          </a:p>
          <a:p>
            <a:r>
              <a:rPr lang="en-US" altLang="zh-CN"/>
              <a:t>       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77255" y="1638300"/>
            <a:ext cx="6096000" cy="4799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# </a:t>
            </a:r>
            <a:r>
              <a:rPr lang="zh-CN" altLang="en-US">
                <a:sym typeface="+mn-ea"/>
              </a:rPr>
              <a:t>业务规则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创建</a:t>
            </a:r>
            <a:r>
              <a:rPr lang="en-US" altLang="zh-CN">
                <a:sym typeface="+mn-ea"/>
              </a:rPr>
              <a:t>URL</a:t>
            </a:r>
            <a:r>
              <a:rPr lang="zh-CN" altLang="en-US">
                <a:sym typeface="+mn-ea"/>
              </a:rPr>
              <a:t>记录表</a:t>
            </a:r>
            <a:endParaRPr lang="zh-CN" altLang="en-US"/>
          </a:p>
          <a:p>
            <a:r>
              <a:rPr lang="en-US" altLang="zh-CN">
                <a:sym typeface="+mn-ea"/>
              </a:rPr>
              <a:t>        cursor.execute('''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CREATE TABLE IF NOT EXISTS url_records (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id INTEGER PRIMARY KEY AUTOINCREMENT,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task_id INTEGER,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url TEXT NOT NULL,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status TEXT DEFAULT 'pending',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title TEXT,           # </a:t>
            </a:r>
            <a:r>
              <a:rPr lang="zh-CN" altLang="en-US">
                <a:sym typeface="+mn-ea"/>
              </a:rPr>
              <a:t>业务数据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页面标题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author TEXT,          # </a:t>
            </a:r>
            <a:r>
              <a:rPr lang="zh-CN" altLang="en-US">
                <a:sym typeface="+mn-ea"/>
              </a:rPr>
              <a:t>业务数据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作者信息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description TEXT,     # </a:t>
            </a:r>
            <a:r>
              <a:rPr lang="zh-CN" altLang="en-US">
                <a:sym typeface="+mn-ea"/>
              </a:rPr>
              <a:t>业务数据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页面描述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keywords TEXT,        # </a:t>
            </a:r>
            <a:r>
              <a:rPr lang="zh-CN" altLang="en-US">
                <a:sym typeface="+mn-ea"/>
              </a:rPr>
              <a:t>业务数据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关键词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publish_time TEXT,    # </a:t>
            </a:r>
            <a:r>
              <a:rPr lang="zh-CN" altLang="en-US">
                <a:sym typeface="+mn-ea"/>
              </a:rPr>
              <a:t>业务数据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发布时间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# ... </a:t>
            </a:r>
            <a:r>
              <a:rPr lang="zh-CN" altLang="en-US">
                <a:sym typeface="+mn-ea"/>
              </a:rPr>
              <a:t>更多业务字段</a:t>
            </a:r>
            <a:endParaRPr lang="zh-CN" altLang="en-US"/>
          </a:p>
          <a:p>
            <a:r>
              <a:rPr lang="en-US" altLang="zh-CN">
                <a:sym typeface="+mn-ea"/>
              </a:rPr>
              <a:t>                FOREIGN KEY (task_id) REFERENCES tasks (id) ON DELETE CASCADE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)</a:t>
            </a:r>
            <a:endParaRPr lang="en-US" altLang="zh-CN"/>
          </a:p>
          <a:p>
            <a:r>
              <a:rPr lang="en-US" altLang="zh-CN">
                <a:sym typeface="+mn-ea"/>
              </a:rPr>
              <a:t>        ''')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7. </a:t>
            </a:r>
            <a:r>
              <a:rPr lang="zh-CN" altLang="en-US"/>
              <a:t>业务逻辑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文本框 5"/>
          <p:cNvSpPr txBox="1"/>
          <p:nvPr/>
        </p:nvSpPr>
        <p:spPr>
          <a:xfrm>
            <a:off x="5977255" y="1226820"/>
            <a:ext cx="6096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 # </a:t>
            </a:r>
            <a:r>
              <a:rPr lang="zh-CN" altLang="en-US">
                <a:sym typeface="+mn-ea"/>
              </a:rPr>
              <a:t>业务规则</a:t>
            </a:r>
            <a:r>
              <a:rPr lang="en-US" altLang="zh-CN">
                <a:sym typeface="+mn-ea"/>
              </a:rPr>
              <a:t>4: </a:t>
            </a:r>
            <a:r>
              <a:rPr lang="zh-CN" altLang="en-US">
                <a:sym typeface="+mn-ea"/>
              </a:rPr>
              <a:t>更新任务状态</a:t>
            </a:r>
            <a:endParaRPr lang="zh-CN" altLang="en-US"/>
          </a:p>
          <a:p>
            <a:r>
              <a:rPr lang="en-US" altLang="zh-CN">
                <a:sym typeface="+mn-ea"/>
              </a:rPr>
              <a:t>    cursor.execute('UPDATE tasks SET status = ?, queue_status = ? WHERE id = ?', 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       ('running', 'active', task_id))</a:t>
            </a:r>
            <a:endParaRPr lang="en-US" altLang="zh-CN"/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/>
              <a:t># </a:t>
            </a:r>
            <a:r>
              <a:rPr lang="zh-CN" altLang="en-US"/>
              <a:t>任务暂停业务逻辑</a:t>
            </a:r>
            <a:endParaRPr lang="zh-CN" altLang="en-US"/>
          </a:p>
          <a:p>
            <a:r>
              <a:rPr lang="en-US" altLang="zh-CN"/>
              <a:t>def pause_task(task_id):</a:t>
            </a:r>
            <a:endParaRPr lang="en-US" altLang="zh-CN"/>
          </a:p>
          <a:p>
            <a:r>
              <a:rPr lang="en-US" altLang="zh-CN"/>
              <a:t>    """</a:t>
            </a:r>
            <a:r>
              <a:rPr lang="zh-CN" altLang="en-US"/>
              <a:t>任务暂停的业务规则</a:t>
            </a:r>
            <a:r>
              <a:rPr lang="en-US" altLang="zh-CN"/>
              <a:t>"""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# </a:t>
            </a:r>
            <a:r>
              <a:rPr lang="zh-CN" altLang="en-US"/>
              <a:t>业务规则</a:t>
            </a:r>
            <a:r>
              <a:rPr lang="en-US" altLang="zh-CN"/>
              <a:t>1: </a:t>
            </a:r>
            <a:r>
              <a:rPr lang="zh-CN" altLang="en-US"/>
              <a:t>检查任务是否在运行</a:t>
            </a:r>
            <a:endParaRPr lang="zh-CN" altLang="en-US"/>
          </a:p>
          <a:p>
            <a:r>
              <a:rPr lang="en-US" altLang="zh-CN"/>
              <a:t>    if task_id not in active_crawlers:</a:t>
            </a:r>
            <a:endParaRPr lang="en-US" altLang="zh-CN"/>
          </a:p>
          <a:p>
            <a:r>
              <a:rPr lang="en-US" altLang="zh-CN"/>
              <a:t>        return jsonify({'success': False, 'error': '</a:t>
            </a:r>
            <a:r>
              <a:rPr lang="zh-CN" altLang="en-US"/>
              <a:t>任务未在运行</a:t>
            </a:r>
            <a:r>
              <a:rPr lang="en-US" altLang="zh-CN"/>
              <a:t>'})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# </a:t>
            </a:r>
            <a:r>
              <a:rPr lang="zh-CN" altLang="en-US"/>
              <a:t>业务规则</a:t>
            </a:r>
            <a:r>
              <a:rPr lang="en-US" altLang="zh-CN"/>
              <a:t>2: </a:t>
            </a:r>
            <a:r>
              <a:rPr lang="zh-CN" altLang="en-US"/>
              <a:t>暂停爬虫线程</a:t>
            </a:r>
            <a:endParaRPr lang="zh-CN" altLang="en-US"/>
          </a:p>
          <a:p>
            <a:r>
              <a:rPr lang="en-US" altLang="zh-CN"/>
              <a:t>    active_crawlers[task_id].pause()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  <a:p>
            <a:r>
              <a:rPr lang="en-US" altLang="zh-CN"/>
              <a:t>    # </a:t>
            </a:r>
            <a:r>
              <a:rPr lang="zh-CN" altLang="en-US"/>
              <a:t>业务规则</a:t>
            </a:r>
            <a:r>
              <a:rPr lang="en-US" altLang="zh-CN"/>
              <a:t>3: </a:t>
            </a:r>
            <a:r>
              <a:rPr lang="zh-CN" altLang="en-US"/>
              <a:t>更新数据库状态</a:t>
            </a:r>
            <a:endParaRPr lang="zh-CN" altLang="en-US"/>
          </a:p>
          <a:p>
            <a:r>
              <a:rPr lang="en-US" altLang="zh-CN"/>
              <a:t>    cursor.execute('UPDATE tasks SET status = ? WHERE id = ?', ('paused', task_id))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05130" y="1529080"/>
            <a:ext cx="406400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# </a:t>
            </a:r>
            <a:r>
              <a:rPr lang="zh-CN" altLang="en-US">
                <a:sym typeface="+mn-ea"/>
              </a:rPr>
              <a:t>任务启动业务逻辑</a:t>
            </a:r>
            <a:endParaRPr lang="zh-CN" altLang="en-US"/>
          </a:p>
          <a:p>
            <a:r>
              <a:rPr lang="en-US" altLang="zh-CN">
                <a:sym typeface="+mn-ea"/>
              </a:rPr>
              <a:t>def start_task(task_id):</a:t>
            </a:r>
            <a:endParaRPr lang="en-US" altLang="zh-CN"/>
          </a:p>
          <a:p>
            <a:r>
              <a:rPr lang="en-US" altLang="zh-CN">
                <a:sym typeface="+mn-ea"/>
              </a:rPr>
              <a:t>    """</a:t>
            </a:r>
            <a:r>
              <a:rPr lang="zh-CN" altLang="en-US">
                <a:sym typeface="+mn-ea"/>
              </a:rPr>
              <a:t>任务启动的业务规则</a:t>
            </a:r>
            <a:r>
              <a:rPr lang="en-US" altLang="zh-CN">
                <a:sym typeface="+mn-ea"/>
              </a:rPr>
              <a:t>"""</a:t>
            </a:r>
            <a:endParaRPr lang="en-US" altLang="zh-CN"/>
          </a:p>
          <a:p>
            <a:r>
              <a:rPr lang="en-US" altLang="zh-CN">
                <a:sym typeface="+mn-ea"/>
              </a:rPr>
              <a:t>    </a:t>
            </a:r>
            <a:endParaRPr lang="en-US" altLang="zh-CN"/>
          </a:p>
          <a:p>
            <a:r>
              <a:rPr lang="en-US" altLang="zh-CN">
                <a:sym typeface="+mn-ea"/>
              </a:rPr>
              <a:t>    # </a:t>
            </a:r>
            <a:r>
              <a:rPr lang="zh-CN" altLang="en-US">
                <a:sym typeface="+mn-ea"/>
              </a:rPr>
              <a:t>业务规则</a:t>
            </a:r>
            <a:r>
              <a:rPr lang="en-US" altLang="zh-CN">
                <a:sym typeface="+mn-ea"/>
              </a:rPr>
              <a:t>1: </a:t>
            </a:r>
            <a:r>
              <a:rPr lang="zh-CN" altLang="en-US">
                <a:sym typeface="+mn-ea"/>
              </a:rPr>
              <a:t>检查任务状态</a:t>
            </a:r>
            <a:endParaRPr lang="zh-CN" altLang="en-US"/>
          </a:p>
          <a:p>
            <a:r>
              <a:rPr lang="en-US" altLang="zh-CN">
                <a:sym typeface="+mn-ea"/>
              </a:rPr>
              <a:t>    if task['status'] == 'running':</a:t>
            </a:r>
            <a:endParaRPr lang="en-US" altLang="zh-CN"/>
          </a:p>
          <a:p>
            <a:r>
              <a:rPr lang="en-US" altLang="zh-CN">
                <a:sym typeface="+mn-ea"/>
              </a:rPr>
              <a:t>        return jsonify({'success': False, 'error': '</a:t>
            </a:r>
            <a:r>
              <a:rPr lang="zh-CN" altLang="en-US">
                <a:sym typeface="+mn-ea"/>
              </a:rPr>
              <a:t>任务已在运行中</a:t>
            </a:r>
            <a:r>
              <a:rPr lang="en-US" altLang="zh-CN">
                <a:sym typeface="+mn-ea"/>
              </a:rPr>
              <a:t>'})</a:t>
            </a:r>
            <a:endParaRPr lang="en-US" altLang="zh-CN"/>
          </a:p>
          <a:p>
            <a:r>
              <a:rPr lang="en-US" altLang="zh-CN">
                <a:sym typeface="+mn-ea"/>
              </a:rPr>
              <a:t>    </a:t>
            </a:r>
            <a:endParaRPr lang="en-US" altLang="zh-CN"/>
          </a:p>
          <a:p>
            <a:r>
              <a:rPr lang="en-US" altLang="zh-CN">
                <a:sym typeface="+mn-ea"/>
              </a:rPr>
              <a:t>    # </a:t>
            </a:r>
            <a:r>
              <a:rPr lang="zh-CN" altLang="en-US">
                <a:sym typeface="+mn-ea"/>
              </a:rPr>
              <a:t>业务规则</a:t>
            </a:r>
            <a:r>
              <a:rPr lang="en-US" altLang="zh-CN">
                <a:sym typeface="+mn-ea"/>
              </a:rPr>
              <a:t>2: </a:t>
            </a:r>
            <a:r>
              <a:rPr lang="zh-CN" altLang="en-US">
                <a:sym typeface="+mn-ea"/>
              </a:rPr>
              <a:t>验证任务配置</a:t>
            </a:r>
            <a:endParaRPr lang="zh-CN" altLang="en-US"/>
          </a:p>
          <a:p>
            <a:r>
              <a:rPr lang="en-US" altLang="zh-CN">
                <a:sym typeface="+mn-ea"/>
              </a:rPr>
              <a:t>    if not task['url']:</a:t>
            </a:r>
            <a:endParaRPr lang="en-US" altLang="zh-CN"/>
          </a:p>
          <a:p>
            <a:r>
              <a:rPr lang="en-US" altLang="zh-CN">
                <a:sym typeface="+mn-ea"/>
              </a:rPr>
              <a:t>        return jsonify({'success': False, 'error': 'URL</a:t>
            </a:r>
            <a:r>
              <a:rPr lang="zh-CN" altLang="en-US">
                <a:sym typeface="+mn-ea"/>
              </a:rPr>
              <a:t>不能为空</a:t>
            </a:r>
            <a:r>
              <a:rPr lang="en-US" altLang="zh-CN">
                <a:sym typeface="+mn-ea"/>
              </a:rPr>
              <a:t>'})</a:t>
            </a:r>
            <a:endParaRPr lang="en-US" altLang="zh-CN"/>
          </a:p>
          <a:p>
            <a:r>
              <a:rPr lang="en-US" altLang="zh-CN">
                <a:sym typeface="+mn-ea"/>
              </a:rPr>
              <a:t>    </a:t>
            </a:r>
            <a:endParaRPr lang="en-US" altLang="zh-CN"/>
          </a:p>
          <a:p>
            <a:r>
              <a:rPr lang="en-US" altLang="zh-CN">
                <a:sym typeface="+mn-ea"/>
              </a:rPr>
              <a:t>    # </a:t>
            </a:r>
            <a:r>
              <a:rPr lang="zh-CN" altLang="en-US">
                <a:sym typeface="+mn-ea"/>
              </a:rPr>
              <a:t>业务规则</a:t>
            </a:r>
            <a:r>
              <a:rPr lang="en-US" altLang="zh-CN">
                <a:sym typeface="+mn-ea"/>
              </a:rPr>
              <a:t>3: </a:t>
            </a:r>
            <a:r>
              <a:rPr lang="zh-CN" altLang="en-US">
                <a:sym typeface="+mn-ea"/>
              </a:rPr>
              <a:t>创建爬虫实例</a:t>
            </a:r>
            <a:endParaRPr lang="zh-CN" altLang="en-US"/>
          </a:p>
          <a:p>
            <a:r>
              <a:rPr lang="en-US" altLang="zh-CN">
                <a:sym typeface="+mn-ea"/>
              </a:rPr>
              <a:t>    crawler = CrawlerThread(task_id, task_config, db, socketio)</a:t>
            </a:r>
            <a:endParaRPr lang="en-US" altLang="zh-CN"/>
          </a:p>
          <a:p>
            <a:r>
              <a:rPr lang="en-US" altLang="zh-CN">
                <a:sym typeface="+mn-ea"/>
              </a:rPr>
              <a:t>    crawler.daemon = True</a:t>
            </a:r>
            <a:endParaRPr lang="en-US" altLang="zh-CN"/>
          </a:p>
          <a:p>
            <a:r>
              <a:rPr lang="en-US" altLang="zh-CN">
                <a:sym typeface="+mn-ea"/>
              </a:rPr>
              <a:t>    crawler.start()</a:t>
            </a:r>
            <a:endParaRPr lang="en-US" altLang="zh-CN"/>
          </a:p>
          <a:p>
            <a:r>
              <a:rPr lang="en-US" altLang="zh-CN">
                <a:sym typeface="+mn-ea"/>
              </a:rPr>
              <a:t>    </a:t>
            </a:r>
            <a:endParaRPr lang="en-US" altLang="zh-CN"/>
          </a:p>
          <a:p>
            <a:r>
              <a:rPr lang="en-US" altLang="zh-CN">
                <a:sym typeface="+mn-ea"/>
              </a:rPr>
              <a:t>   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7. </a:t>
            </a:r>
            <a:r>
              <a:rPr lang="zh-CN" altLang="en-US"/>
              <a:t>业务逻辑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6095365" y="365760"/>
            <a:ext cx="6096000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</a:t>
            </a:r>
            <a:r>
              <a:rPr lang="en-US" altLang="zh-CN">
                <a:sym typeface="+mn-ea"/>
              </a:rPr>
              <a:t> monitor_data = {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'task_id': task_id,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'status': crawler.status,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'queue_status': 'paused' if crawler.queue_paused else 'active',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'progress': progress,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'success_rate': success_rate,</a:t>
            </a:r>
            <a:endParaRPr lang="en-US" altLang="zh-CN"/>
          </a:p>
          <a:p>
            <a:r>
              <a:rPr lang="en-US" altLang="zh-CN">
                <a:sym typeface="+mn-ea"/>
              </a:rPr>
              <a:t>            'threads': crawler.thread_stats </a:t>
            </a:r>
            <a:endParaRPr lang="en-US" altLang="zh-CN">
              <a:sym typeface="+mn-ea"/>
            </a:endParaRPr>
          </a:p>
          <a:p>
            <a:r>
              <a:rPr lang="en-US" altLang="zh-CN"/>
              <a:t># </a:t>
            </a:r>
            <a:r>
              <a:rPr lang="zh-CN" altLang="en-US"/>
              <a:t>线程状态业务数据</a:t>
            </a:r>
            <a:endParaRPr lang="zh-CN" altLang="en-US"/>
          </a:p>
          <a:p>
            <a:r>
              <a:rPr lang="en-US" altLang="zh-CN"/>
              <a:t>        }</a:t>
            </a:r>
            <a:endParaRPr lang="en-US" altLang="zh-CN"/>
          </a:p>
          <a:p>
            <a:r>
              <a:rPr lang="en-US" altLang="zh-CN"/>
              <a:t>    else:</a:t>
            </a:r>
            <a:endParaRPr lang="en-US" altLang="zh-CN"/>
          </a:p>
          <a:p>
            <a:r>
              <a:rPr lang="en-US" altLang="zh-CN"/>
              <a:t>        # </a:t>
            </a:r>
            <a:r>
              <a:rPr lang="zh-CN" altLang="en-US"/>
              <a:t>业务逻辑</a:t>
            </a:r>
            <a:r>
              <a:rPr lang="en-US" altLang="zh-CN"/>
              <a:t>: </a:t>
            </a:r>
            <a:r>
              <a:rPr lang="zh-CN" altLang="en-US"/>
              <a:t>从数据库获取历史数据</a:t>
            </a:r>
            <a:endParaRPr lang="zh-CN" altLang="en-US"/>
          </a:p>
          <a:p>
            <a:r>
              <a:rPr lang="en-US" altLang="zh-CN"/>
              <a:t>        # </a:t>
            </a:r>
            <a:r>
              <a:rPr lang="zh-CN" altLang="en-US"/>
              <a:t>计算实际的流量统计</a:t>
            </a:r>
            <a:endParaRPr lang="zh-CN" altLang="en-US"/>
          </a:p>
          <a:p>
            <a:r>
              <a:rPr lang="en-US" altLang="zh-CN"/>
              <a:t>        cursor.execute('''</a:t>
            </a:r>
            <a:endParaRPr lang="en-US" altLang="zh-CN"/>
          </a:p>
          <a:p>
            <a:r>
              <a:rPr lang="en-US" altLang="zh-CN"/>
              <a:t>            SELECT </a:t>
            </a:r>
            <a:endParaRPr lang="en-US" altLang="zh-CN"/>
          </a:p>
          <a:p>
            <a:r>
              <a:rPr lang="en-US" altLang="zh-CN"/>
              <a:t>                SUM(CASE WHEN status = 'completed' THEN 1 ELSE 0 END) as completed_count,</a:t>
            </a:r>
            <a:endParaRPr lang="en-US" altLang="zh-CN"/>
          </a:p>
          <a:p>
            <a:r>
              <a:rPr lang="en-US" altLang="zh-CN"/>
              <a:t>                SUM(CASE WHEN status = 'completed' THEN COALESCE(file_size, 0) ELSE 0 END) as total_bytes</a:t>
            </a:r>
            <a:endParaRPr lang="en-US" altLang="zh-CN"/>
          </a:p>
          <a:p>
            <a:r>
              <a:rPr lang="en-US" altLang="zh-CN"/>
              <a:t>            FROM url_records </a:t>
            </a:r>
            <a:endParaRPr lang="en-US" altLang="zh-CN"/>
          </a:p>
          <a:p>
            <a:r>
              <a:rPr lang="en-US" altLang="zh-CN"/>
              <a:t>            WHERE task_id = ?</a:t>
            </a:r>
            <a:endParaRPr lang="en-US" altLang="zh-CN"/>
          </a:p>
          <a:p>
            <a:r>
              <a:rPr lang="en-US" altLang="zh-CN"/>
              <a:t>        ''', (task_id,))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02565" y="195326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def get_monitor_data(task_id):</a:t>
            </a:r>
            <a:endParaRPr lang="en-US" altLang="zh-CN"/>
          </a:p>
          <a:p>
            <a:r>
              <a:rPr lang="en-US" altLang="zh-CN">
                <a:sym typeface="+mn-ea"/>
              </a:rPr>
              <a:t>    """</a:t>
            </a:r>
            <a:r>
              <a:rPr lang="zh-CN" altLang="en-US">
                <a:sym typeface="+mn-ea"/>
              </a:rPr>
              <a:t>监控数据的业务逻辑</a:t>
            </a:r>
            <a:r>
              <a:rPr lang="en-US" altLang="zh-CN">
                <a:sym typeface="+mn-ea"/>
              </a:rPr>
              <a:t>"""</a:t>
            </a:r>
            <a:endParaRPr lang="en-US" altLang="zh-CN"/>
          </a:p>
          <a:p>
            <a:r>
              <a:rPr lang="en-US" altLang="zh-CN">
                <a:sym typeface="+mn-ea"/>
              </a:rPr>
              <a:t>    </a:t>
            </a:r>
            <a:endParaRPr lang="en-US" altLang="zh-CN"/>
          </a:p>
          <a:p>
            <a:r>
              <a:rPr lang="en-US" altLang="zh-CN">
                <a:sym typeface="+mn-ea"/>
              </a:rPr>
              <a:t>    if task_id in active_crawlers:</a:t>
            </a:r>
            <a:endParaRPr lang="en-US" altLang="zh-CN"/>
          </a:p>
          <a:p>
            <a:r>
              <a:rPr lang="en-US" altLang="zh-CN">
                <a:sym typeface="+mn-ea"/>
              </a:rPr>
              <a:t>        # </a:t>
            </a:r>
            <a:r>
              <a:rPr lang="zh-CN" altLang="en-US">
                <a:sym typeface="+mn-ea"/>
              </a:rPr>
              <a:t>业务逻辑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实时数据计算</a:t>
            </a:r>
            <a:endParaRPr lang="zh-CN" altLang="en-US"/>
          </a:p>
          <a:p>
            <a:r>
              <a:rPr lang="en-US" altLang="zh-CN">
                <a:sym typeface="+mn-ea"/>
              </a:rPr>
              <a:t>        crawler = active_crawlers[task_id]</a:t>
            </a:r>
            <a:endParaRPr lang="en-US" altLang="zh-CN"/>
          </a:p>
          <a:p>
            <a:r>
              <a:rPr lang="en-US" altLang="zh-CN">
                <a:sym typeface="+mn-ea"/>
              </a:rPr>
              <a:t>        </a:t>
            </a:r>
            <a:endParaRPr lang="en-US" altLang="zh-CN"/>
          </a:p>
          <a:p>
            <a:r>
              <a:rPr lang="en-US" altLang="zh-CN">
                <a:sym typeface="+mn-ea"/>
              </a:rPr>
              <a:t>        total_processed = crawler.completed_count + crawler.failed_count</a:t>
            </a:r>
            <a:endParaRPr lang="en-US" altLang="zh-CN"/>
          </a:p>
          <a:p>
            <a:r>
              <a:rPr lang="en-US" altLang="zh-CN">
                <a:sym typeface="+mn-ea"/>
              </a:rPr>
              <a:t>        success_rate = (crawler.completed_count / max(total_processed, 1)) * 100</a:t>
            </a:r>
            <a:endParaRPr lang="en-US" altLang="zh-CN"/>
          </a:p>
          <a:p>
            <a:r>
              <a:rPr lang="en-US" altLang="zh-CN">
                <a:sym typeface="+mn-ea"/>
              </a:rPr>
              <a:t>        progress = (total_processed / max(crawler.total_urls_discovered, 1)) * 100</a:t>
            </a:r>
            <a:endParaRPr lang="en-US" altLang="zh-CN"/>
          </a:p>
          <a:p>
            <a:r>
              <a:rPr lang="en-US" altLang="zh-CN">
                <a:sym typeface="+mn-ea"/>
              </a:rPr>
              <a:t>        </a:t>
            </a:r>
            <a:endParaRPr lang="en-US" altLang="zh-CN"/>
          </a:p>
          <a:p>
            <a:r>
              <a:rPr lang="en-US" altLang="zh-CN">
                <a:sym typeface="+mn-ea"/>
              </a:rPr>
              <a:t>      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7. </a:t>
            </a:r>
            <a:r>
              <a:rPr lang="zh-CN" altLang="en-US"/>
              <a:t>业务逻辑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854075" y="1637665"/>
          <a:ext cx="10483850" cy="3573780"/>
        </p:xfrm>
        <a:graphic>
          <a:graphicData uri="http://schemas.openxmlformats.org/drawingml/2006/table">
            <a:tbl>
              <a:tblPr/>
              <a:tblGrid>
                <a:gridCol w="5241925"/>
                <a:gridCol w="5241925"/>
              </a:tblGrid>
              <a:tr h="51054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业务领域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关键规则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054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URL处理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去重 → 跨域检查 → robots检查 → 深度限制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054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任务状态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pending → running → paused/completed/stopped/failed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054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队列状态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active ↔ paused (独立于任务状态)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054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线程管理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1-10个工作线程，守护线程模式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054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数据完整性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外键约束，级联删除，事务处理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054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错误处理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重试机制，异常捕获，状态同步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8. </a:t>
            </a:r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854075" y="1761490"/>
          <a:ext cx="10483850" cy="442468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字段类型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字段名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数据类型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说明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默认值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主键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id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自增主键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AUTO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基础信息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name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任务名称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必填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基础信息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起始URL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必填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strategy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爬取策略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'bfs'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max_depth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最大深度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thread_count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线程数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request_interval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REAL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请求间隔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1.0秒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retry_times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重试次数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3次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respect_robots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BOOLEAN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遵守robots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爬取配置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allow_cross_domain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BOOLEAN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允许跨域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状态管理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status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任务状态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'pending'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状态管理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queue_status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队列状态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'active'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944620" y="1184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tasks </a:t>
            </a:r>
            <a:r>
              <a:rPr lang="zh-CN" altLang="en-US"/>
              <a:t>任务</a:t>
            </a:r>
            <a:r>
              <a:rPr lang="zh-CN" altLang="en-US"/>
              <a:t>表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9356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8. </a:t>
            </a:r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文本框 4"/>
          <p:cNvSpPr txBox="1"/>
          <p:nvPr/>
        </p:nvSpPr>
        <p:spPr>
          <a:xfrm>
            <a:off x="3893820" y="1184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url_records</a:t>
            </a:r>
            <a:r>
              <a:rPr lang="zh-CN" altLang="en-US"/>
              <a:t>表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854075" y="2004060"/>
          <a:ext cx="10483850" cy="4435475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24701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分类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字段名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数据类型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说明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示例值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基础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id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自增主键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1, 2, 3...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关联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task_id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任务ID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7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URL信息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完整URL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https://example.com/page.html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URL信息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depth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爬取深度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0, 1, 2, 3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7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status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爬取状态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completed, failed, robots_blocked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015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HTTP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status_code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HTTP状态码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200, 404, 500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性能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response_time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REAL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响应时间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0.35 (秒)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文件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file_size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INTEGER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文件大小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1024 (字节)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76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文件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content_type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MIME类型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text/html, image/jpeg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元数据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title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页面标题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"首页 - 示例网站"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元数据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author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作者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"张三"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元数据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description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描述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"这是一个示例页面"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元数据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keywords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关键词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"网站,首页,示例"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元数据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publish_time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TEXT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发布时间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ts val="1400"/>
                        </a:lnSpc>
                        <a:buClrTx/>
                        <a:buSzTx/>
                        <a:buFontTx/>
                      </a:pP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+mj-ea"/>
                          <a:ea typeface="+mj-ea"/>
                          <a:cs typeface="+mj-ea"/>
                        </a:rPr>
                        <a:t>"2024-12-01"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+mj-ea"/>
                        <a:ea typeface="+mj-ea"/>
                        <a:cs typeface="+mj-ea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47650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/>
              <a:t>9</a:t>
            </a:r>
            <a:r>
              <a:t>. 代码结构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492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95959"/>
                </a:solidFill>
                <a:latin typeface="Consolas" panose="020B0609020204030204"/>
              </a:defRPr>
            </a:pP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net3/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├── app.py              # 主程序入口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├── DatabaseManager     # 数据库管理类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├── CrawlerThread       # 爬虫线程类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└── Flask Routes        # API路由定义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├── web/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├── index.html      # 主页面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├── css/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│   └── style.css   # 样式文件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└── js/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│       └── app.js      # 前端逻辑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├── crawler.db          # SQLite数据库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├── requirements.txt    # Python依赖</a:t>
            </a:r>
            <a:b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</a:br>
            <a:r>
              <a:rPr sz="20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└── start.bat           # Windows启动脚本</a:t>
            </a:r>
            <a:b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15740" y="2743200"/>
            <a:ext cx="3855720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lang="zh-CN"/>
              <a:t>请批评</a:t>
            </a:r>
            <a:r>
              <a:rPr lang="zh-CN"/>
              <a:t>指正！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4,&quot;left&quot;:57,&quot;top&quot;:155.45,&quot;width&quot;:842.4}"/>
</p:tagLst>
</file>

<file path=ppt/tags/tag2.xml><?xml version="1.0" encoding="utf-8"?>
<p:tagLst xmlns:p="http://schemas.openxmlformats.org/presentationml/2006/main">
  <p:tag name="KSO_WM_DIAGRAM_VIRTUALLY_FRAME" val="{&quot;height&quot;:324,&quot;left&quot;:57,&quot;top&quot;:155.45,&quot;width&quot;:842.4}"/>
</p:tagLst>
</file>

<file path=ppt/tags/tag3.xml><?xml version="1.0" encoding="utf-8"?>
<p:tagLst xmlns:p="http://schemas.openxmlformats.org/presentationml/2006/main">
  <p:tag name="KSO_WM_DIAGRAM_VIRTUALLY_FRAME" val="{&quot;height&quot;:324,&quot;left&quot;:57,&quot;top&quot;:155.45,&quot;width&quot;:842.4}"/>
</p:tagLst>
</file>

<file path=ppt/tags/tag4.xml><?xml version="1.0" encoding="utf-8"?>
<p:tagLst xmlns:p="http://schemas.openxmlformats.org/presentationml/2006/main">
  <p:tag name="KSO_WM_DIAGRAM_VIRTUALLY_FRAME" val="{&quot;height&quot;:324,&quot;left&quot;:57,&quot;top&quot;:155.45,&quot;width&quot;:842.4}"/>
</p:tagLst>
</file>

<file path=ppt/tags/tag5.xml><?xml version="1.0" encoding="utf-8"?>
<p:tagLst xmlns:p="http://schemas.openxmlformats.org/presentationml/2006/main">
  <p:tag name="TABLE_ENDDRAG_ORIGIN_RECT" val="825*281"/>
  <p:tag name="TABLE_ENDDRAG_RECT" val="67*128*825*281"/>
</p:tagLst>
</file>

<file path=ppt/tags/tag6.xml><?xml version="1.0" encoding="utf-8"?>
<p:tagLst xmlns:p="http://schemas.openxmlformats.org/presentationml/2006/main">
  <p:tag name="TABLE_ENDDRAG_ORIGIN_RECT" val="825*348"/>
  <p:tag name="TABLE_ENDDRAG_RECT" val="67*138*825*348"/>
</p:tagLst>
</file>

<file path=ppt/tags/tag7.xml><?xml version="1.0" encoding="utf-8"?>
<p:tagLst xmlns:p="http://schemas.openxmlformats.org/presentationml/2006/main">
  <p:tag name="TABLE_ENDDRAG_ORIGIN_RECT" val="825*349"/>
  <p:tag name="TABLE_ENDDRAG_RECT" val="67*157*825*34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7170</Words>
  <Application>WPS 演示</Application>
  <PresentationFormat>On-screen Show (4:3)</PresentationFormat>
  <Paragraphs>839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宋体</vt:lpstr>
      <vt:lpstr>Wingdings</vt:lpstr>
      <vt:lpstr>Arial</vt:lpstr>
      <vt:lpstr>Consolas</vt:lpstr>
      <vt:lpstr>Calibri</vt:lpstr>
      <vt:lpstr>微软雅黑</vt:lpstr>
      <vt:lpstr>Arial Unicode MS</vt:lpstr>
      <vt:lpstr>Inter</vt:lpstr>
      <vt:lpstr>Segoe Print</vt:lpstr>
      <vt:lpstr>黑体</vt:lpstr>
      <vt:lpstr>Segoe WPC</vt:lpstr>
      <vt:lpstr>SF Mono</vt:lpstr>
      <vt:lpstr>+中文正文</vt:lpstr>
      <vt:lpstr>MiSans Normal</vt:lpstr>
      <vt:lpstr>新宋体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杨子衡</cp:lastModifiedBy>
  <cp:revision>4</cp:revision>
  <dcterms:created xsi:type="dcterms:W3CDTF">2013-01-27T09:14:00Z</dcterms:created>
  <dcterms:modified xsi:type="dcterms:W3CDTF">2025-12-01T09:59:31Z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7B384E61090A467AB34C50158340F927_12</vt:lpwstr>
  </property>
  <property fmtid="{D5CDD505-2E9C-101B-9397-08002B2CF9AE}" pid="3" name="KSOProductBuildVer">
    <vt:lpwstr>2052-12.1.0.23542</vt:lpwstr>
  </property>
</Properties>
</file>